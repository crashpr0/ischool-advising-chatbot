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13351abaf44e67" /><Relationship Type="http://schemas.openxmlformats.org/officeDocument/2006/relationships/extended-properties" Target="/docProps/app.xml" Id="R2e762cf16e344d28" /><Relationship Type="http://schemas.openxmlformats.org/officeDocument/2006/relationships/officeDocument" Target="/ppt/presentation.xml" Id="R356447f7743d4c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adb0b185184148"/>
  </p:sldMasterIdLst>
  <p:notesMasterIdLst>
    <p:notesMasterId xmlns:r="http://schemas.openxmlformats.org/officeDocument/2006/relationships" r:id="R10a78d782b584136"/>
  </p:notesMasterIdLst>
  <p:sldIdLst>
    <p:sldId xmlns:r="http://schemas.openxmlformats.org/officeDocument/2006/relationships" id="256" r:id="Rb3c116771164401e"/>
    <p:sldId xmlns:r="http://schemas.openxmlformats.org/officeDocument/2006/relationships" id="257" r:id="Rc221dbacd7e14430"/>
    <p:sldId xmlns:r="http://schemas.openxmlformats.org/officeDocument/2006/relationships" id="258" r:id="Rd6f0383548b6444e"/>
    <p:sldId xmlns:r="http://schemas.openxmlformats.org/officeDocument/2006/relationships" id="259" r:id="R7ed9316e925f41d6"/>
    <p:sldId xmlns:r="http://schemas.openxmlformats.org/officeDocument/2006/relationships" id="260" r:id="R03d8e63c47c54074"/>
    <p:sldId xmlns:r="http://schemas.openxmlformats.org/officeDocument/2006/relationships" id="261" r:id="Rebadf3714d0a4ea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f16a7bb29642c4" /><Relationship Type="http://schemas.openxmlformats.org/officeDocument/2006/relationships/slideMaster" Target="/ppt/slideMasters/slideMaster1.xml" Id="R68adb0b185184148" /><Relationship Type="http://schemas.openxmlformats.org/officeDocument/2006/relationships/notesMaster" Target="/ppt/notesMasters/notesMaster1.xml" Id="R10a78d782b584136" /><Relationship Type="http://schemas.openxmlformats.org/officeDocument/2006/relationships/presProps" Target="/ppt/presProps.xml" Id="Re30a427ac9d74273" /><Relationship Type="http://schemas.openxmlformats.org/officeDocument/2006/relationships/tableStyles" Target="/ppt/tableStyles.xml" Id="Re1684fdada0949d0" /><Relationship Type="http://schemas.openxmlformats.org/officeDocument/2006/relationships/slide" Target="/ppt/slides/slide1.xml" Id="Rb3c116771164401e" /><Relationship Type="http://schemas.openxmlformats.org/officeDocument/2006/relationships/slide" Target="/ppt/slides/slide2.xml" Id="Rc221dbacd7e14430" /><Relationship Type="http://schemas.openxmlformats.org/officeDocument/2006/relationships/slide" Target="/ppt/slides/slide3.xml" Id="Rd6f0383548b6444e" /><Relationship Type="http://schemas.openxmlformats.org/officeDocument/2006/relationships/slide" Target="/ppt/slides/slide4.xml" Id="R7ed9316e925f41d6" /><Relationship Type="http://schemas.openxmlformats.org/officeDocument/2006/relationships/slide" Target="/ppt/slides/slide5.xml" Id="R03d8e63c47c54074" /><Relationship Type="http://schemas.openxmlformats.org/officeDocument/2006/relationships/slide" Target="/ppt/slides/slide6.xml" Id="Rebadf3714d0a4e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de5eab65af40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e636198895451f" /><Relationship Type="http://schemas.openxmlformats.org/officeDocument/2006/relationships/notesMaster" Target="/ppt/notesMasters/notesMaster1.xml" Id="Rf6130eb4243647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3db4b104e6429d" /><Relationship Type="http://schemas.openxmlformats.org/officeDocument/2006/relationships/notesMaster" Target="/ppt/notesMasters/notesMaster1.xml" Id="R94040b32f09c4d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4d09a9a81a4587" /><Relationship Type="http://schemas.openxmlformats.org/officeDocument/2006/relationships/notesMaster" Target="/ppt/notesMasters/notesMaster1.xml" Id="R423d788ced2a45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a19a14f8154a52" /><Relationship Type="http://schemas.openxmlformats.org/officeDocument/2006/relationships/notesMaster" Target="/ppt/notesMasters/notesMaster1.xml" Id="Rf7d2106b7aa74d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0ea2f53726f4731" /><Relationship Type="http://schemas.openxmlformats.org/officeDocument/2006/relationships/notesMaster" Target="/ppt/notesMasters/notesMaster1.xml" Id="R24d66f62cd5f48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3eadc46a184674" /><Relationship Type="http://schemas.openxmlformats.org/officeDocument/2006/relationships/notesMaster" Target="/ppt/notesMasters/notesMaster1.xml" Id="Rccaee12588cd4c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Christopher opens: introduce the team and project in 20 seconds. Marios and Joshua will take the next sections.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This deck is a concise recap of what 195A proved and what Team 22 commits to delivering in 195B.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Marios: explain the user problem and the product boundary. Keep the key message simple: the chatbot improves access to general advising information, while human advisors retain responsibility for personal decisions.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Joshua: summarize the build and the evidence. Say “48 automated tests pass in local verification” exactly, then distinguish that from a production reliability claim. Close with the lessons that shape the 195B plan.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Christopher: walk left to right across the architecture. Emphasize that voice only changes how text enters the UI; the API and RAG contract stays the same. The model adapter is replaceable, while the source corpus remains the grounding layer.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Marios: present the three phases in about 45 seconds. The final definition of done is the commitment: reproducible corpus and index, voice mode, Chinese provider option, admin workflow, and scope-grounded evaluation.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Provider references for Q&amp;A: https://api-docs.deepseek.com/ ; https://help.aliyun.com/en/model-studio/compatibility-of-openai-with-dashscope ; https://docs.bigmodel.cn/cn/guide/develop/openai/introduction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Joshua closes: cover the four risks and mitigations, then read the commitments. Christopher, Marios, and Joshua each answer one likely Q&amp;A topic so every member participates in the handoff.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Suggested Q&amp;A answers: (1) The bot stays within general advising scope and escalates personal decisions. (2) Chinese models plug in through the existing OpenAI-compatible adapter. (3) Browser voice does not upload audio to this server, but browsers may use their own speech service, so transcript review remains 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82bf901a1a40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8992f650f4c4ae2" /><Relationship Type="http://schemas.openxmlformats.org/officeDocument/2006/relationships/slideLayout" Target="/ppt/slideLayouts/slideLayout1.xml" Id="R36c89050a1cb48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c89050a1cb48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7d3a002c1a413d" /><Relationship Type="http://schemas.openxmlformats.org/officeDocument/2006/relationships/notesSlide" Target="/ppt/notesSlides/notesSlide1.xml" Id="R7173407562ce4d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6424e855c84958" /><Relationship Type="http://schemas.openxmlformats.org/officeDocument/2006/relationships/notesSlide" Target="/ppt/notesSlides/notesSlide2.xml" Id="Rdde129d6f0aa42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43ccb0998345a2" /><Relationship Type="http://schemas.openxmlformats.org/officeDocument/2006/relationships/notesSlide" Target="/ppt/notesSlides/notesSlide3.xml" Id="R5c4cfc5199674e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7d94b33074cb9" /><Relationship Type="http://schemas.openxmlformats.org/officeDocument/2006/relationships/notesSlide" Target="/ppt/notesSlides/notesSlide4.xml" Id="R38a0eb3b350b4d7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4c4eaddd5d4db5" /><Relationship Type="http://schemas.openxmlformats.org/officeDocument/2006/relationships/notesSlide" Target="/ppt/notesSlides/notesSlide5.xml" Id="Rd397be6ef606468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3fe2422af44a34" /><Relationship Type="http://schemas.openxmlformats.org/officeDocument/2006/relationships/notesSlide" Target="/ppt/notesSlides/notesSlide6.xml" Id="Rd04cb32ef65949b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3B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6E40FF-BDAE-409C-B971-6F8E5E35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8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49E77B-D694-43EC-A1C6-7051648D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F03F7F-0862-4B23-B2F8-89667AFF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7620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6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8F7D42-7226-4031-B718-30A721F7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2900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5D9CA4-2334-4C43-A331-9DB5EAC6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E5A82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E5A823"/>
                </a:solidFill>
                <a:latin typeface="Arial"/>
                <a:ea typeface="Arial"/>
                <a:cs typeface="Arial"/>
              </a:rPr>
              <a:t>PRESENTATION 1  |  IG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2BF711-9D60-4110-A82B-CE8EED9F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81125"/>
            <a:ext cx="685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iSchool Senior</a:t>
            </a:r>
          </a:p>
          <a:p xmlns:a="http://schemas.openxmlformats.org/drawingml/2006/main">
            <a:pPr>
              <a:defRPr sz="3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Advising Chatbot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1233EF-F91B-4FA0-BF6C-A467F199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D9EEF7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D9EEF7"/>
                </a:solidFill>
                <a:latin typeface="Arial"/>
                <a:ea typeface="Arial"/>
                <a:cs typeface="Arial"/>
              </a:rPr>
              <a:t>195A accomplishments + 195B implementation plan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56B0D2-9AC9-41ED-AFA7-EC1E4188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86200"/>
            <a:ext cx="504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8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C0C4C9-09B7-4C8D-86E3-907EAC19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719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Team 22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9FAD01-05DB-450C-87C1-82175D73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24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D9EEF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9EEF7"/>
                </a:solidFill>
                <a:latin typeface="Arial"/>
                <a:ea typeface="Arial"/>
                <a:cs typeface="Arial"/>
              </a:rPr>
              <a:t>Christopher Velez  ·  Marios Tawdros  ·  Joshua Rieta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5EF02F-77CC-455E-8D4E-14542F4B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D9EEF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D9EEF7"/>
                </a:solidFill>
                <a:latin typeface="Arial"/>
                <a:ea typeface="Arial"/>
                <a:cs typeface="Arial"/>
              </a:rPr>
              <a:t>Week 5  ·  September 18, 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390C58-34BB-45B5-86C1-06E58CB3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436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E5A82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E5A823"/>
                </a:solidFill>
                <a:latin typeface="Arial"/>
                <a:ea typeface="Arial"/>
                <a:cs typeface="Arial"/>
              </a:rPr>
              <a:t>4 min live presentation  +  1 min Q&amp;A</a:t>
            </a:r>
          </a:p>
        </p:txBody>
      </p:sp>
    </p:spTree>
    <p:extLst>
      <p:ext uri="{BB962C8B-B14F-4D97-AF65-F5344CB8AC3E}">
        <p14:creationId xmlns:p14="http://schemas.microsoft.com/office/powerpoint/2010/main" val="12213289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F54085-D2C3-43B2-9971-14F098272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E5A82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E5A823"/>
                </a:solidFill>
                <a:latin typeface="Arial"/>
                <a:ea typeface="Arial"/>
                <a:cs typeface="Arial"/>
              </a:rPr>
              <a:t>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2954A5-307F-4197-899F-4E648850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003B5C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3B5C"/>
                </a:solidFill>
                <a:latin typeface="Arial"/>
                <a:ea typeface="Arial"/>
                <a:cs typeface="Arial"/>
              </a:rPr>
              <a:t>Advising answers should be fast, grounded, and safe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1B44CB-4ADD-43BA-8802-B37D0E63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8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814F04-CF7B-439C-AD38-DC68432E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4290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5E728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E7282"/>
                </a:solidFill>
                <a:latin typeface="Arial"/>
                <a:ea typeface="Arial"/>
                <a:cs typeface="Arial"/>
              </a:rPr>
              <a:t>TEAM 22  •  2/6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077165-51F1-4A69-BDF5-2C094BAC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183247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83247"/>
                </a:solidFill>
                <a:latin typeface="Arial"/>
                <a:ea typeface="Arial"/>
                <a:cs typeface="Arial"/>
              </a:rPr>
              <a:t>Students need a reliable first stop for common program questions. Advisors need fewer repetitive requests so they can focus on complex cases.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06CEB5-A632-41F9-BEFD-BBC8188B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762500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E8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7ACC3E-1C65-4F3D-B335-B17446BA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3365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DFE5E7-9C8A-4B95-9B55-8A007915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431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03B5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B5C"/>
                </a:solidFill>
                <a:latin typeface="Arial"/>
                <a:ea typeface="Arial"/>
                <a:cs typeface="Arial"/>
              </a:rPr>
              <a:t>THE FRICTION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5E6CA3-ED8E-4DE0-8C77-05EB35F4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81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5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E60F34-CA1E-4387-ADD1-8BE96E3B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051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03B5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3B5C"/>
                </a:solidFill>
                <a:latin typeface="Arial"/>
                <a:ea typeface="Arial"/>
                <a:cs typeface="Arial"/>
              </a:rPr>
              <a:t>Finding the right policy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CC5E05-08D0-4033-8F3C-C2320075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43275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8324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83247"/>
                </a:solidFill>
                <a:latin typeface="Arial"/>
                <a:ea typeface="Arial"/>
                <a:cs typeface="Arial"/>
              </a:rPr>
              <a:t>Answers are spread across program pages and documents.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A34BBB-6610-4195-BDF3-2EC16C96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5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881BB2-D67F-4369-ABE4-45814574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624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03B5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3B5C"/>
                </a:solidFill>
                <a:latin typeface="Arial"/>
                <a:ea typeface="Arial"/>
                <a:cs typeface="Arial"/>
              </a:rPr>
              <a:t>Knowing what applies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1D7472-30A8-451C-9989-2B5AF758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00525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8324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83247"/>
                </a:solidFill>
                <a:latin typeface="Arial"/>
                <a:ea typeface="Arial"/>
                <a:cs typeface="Arial"/>
              </a:rPr>
              <a:t>Students need clear scope and links back to official sources.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0BA3F3-F890-423E-8DD2-E2E85C2F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95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5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F7D503-9120-4111-8B54-90A9DD78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196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03B5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3B5C"/>
                </a:solidFill>
                <a:latin typeface="Arial"/>
                <a:ea typeface="Arial"/>
                <a:cs typeface="Arial"/>
              </a:rPr>
              <a:t>Escalating wisely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48A2DD-205D-4320-B868-B1A556E5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57775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8324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83247"/>
                </a:solidFill>
                <a:latin typeface="Arial"/>
                <a:ea typeface="Arial"/>
                <a:cs typeface="Arial"/>
              </a:rPr>
              <a:t>The chatbot must signal when a human advisor should decide.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AC05D2-3837-40F6-86E7-DDD74F0A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66950"/>
            <a:ext cx="5524500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003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95B487-7DE4-48F6-957E-466B6BDE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3365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5A8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6AF8F9-49FD-4085-9693-8AF4BF84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431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03B5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B5C"/>
                </a:solidFill>
                <a:latin typeface="Arial"/>
                <a:ea typeface="Arial"/>
                <a:cs typeface="Arial"/>
              </a:rPr>
              <a:t>THE SOLUTION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8C654E-672E-4847-B0C6-BE0DABC0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09900"/>
            <a:ext cx="419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ISDA Advising</a:t>
            </a:r>
          </a:p>
          <a:p xmlns:a="http://schemas.openxmlformats.org/drawingml/2006/main">
            <a:pPr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Support Chatbot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2CCF82-B50D-4403-A4DE-F767EF495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10000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D9EEF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9EEF7"/>
                </a:solidFill>
                <a:latin typeface="Arial"/>
                <a:ea typeface="Arial"/>
                <a:cs typeface="Arial"/>
              </a:rPr>
              <a:t>A Flask + LangChain RAG experience that retrieves advising content, answers in plain language, and keeps the source boundary visible.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AEB991-80A5-48B7-827A-9D17C2329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672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E5A82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E5A823"/>
                </a:solidFill>
                <a:latin typeface="Arial"/>
                <a:ea typeface="Arial"/>
                <a:cs typeface="Arial"/>
              </a:rPr>
              <a:t>General guidance only  ·  no student records  ·  human escalation remains available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7305A2-1B22-4721-8FC2-CAA79598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5E7282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E7282"/>
                </a:solidFill>
                <a:latin typeface="Arial"/>
                <a:ea typeface="Arial"/>
                <a:cs typeface="Arial"/>
              </a:rPr>
              <a:t>ISDA Advising Support Chatbot  |  195A → 195B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C0AA17-C878-4574-A129-DF3145DE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15100"/>
            <a:ext cx="1314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03B5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B5C"/>
                </a:solidFill>
                <a:latin typeface="Arial"/>
                <a:ea typeface="Arial"/>
                <a:cs typeface="Arial"/>
              </a:rPr>
              <a:t>SJSU iSchool</a:t>
            </a:r>
          </a:p>
        </p:txBody>
      </p:sp>
    </p:spTree>
    <p:extLst>
      <p:ext uri="{BB962C8B-B14F-4D97-AF65-F5344CB8AC3E}">
        <p14:creationId xmlns:p14="http://schemas.microsoft.com/office/powerpoint/2010/main" val="12833766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87D4CB-C484-4D39-B93C-143B4814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E5A82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E5A823"/>
                </a:solidFill>
                <a:latin typeface="Arial"/>
                <a:ea typeface="Arial"/>
                <a:cs typeface="Arial"/>
              </a:rPr>
              <a:t>195A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D55B9E-9204-43D2-AD0F-167198B24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003B5C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3B5C"/>
                </a:solidFill>
                <a:latin typeface="Arial"/>
                <a:ea typeface="Arial"/>
                <a:cs typeface="Arial"/>
              </a:rPr>
              <a:t>The PoC moved from chat demo to a testable foundation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89A708-A339-4AAD-BAF5-DB8BC771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8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F23FC9-13B9-4BF6-B9C6-64DBEB39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4290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5E728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E7282"/>
                </a:solidFill>
                <a:latin typeface="Arial"/>
                <a:ea typeface="Arial"/>
                <a:cs typeface="Arial"/>
              </a:rPr>
              <a:t>TEAM 22  •  3/6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8202F6-5EB7-4EEA-A6CF-F59D2D08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619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03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BBDD87-A17D-4F7F-8869-45B8F15C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WE BUILT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9FB868-B7CA-4187-841E-826890BE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62100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721691-23C2-41BD-AF9C-B6BAF115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716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03B5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B5C"/>
                </a:solidFill>
                <a:latin typeface="Arial"/>
                <a:ea typeface="Arial"/>
                <a:cs typeface="Arial"/>
              </a:rPr>
              <a:t>PROOF + LESSONS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BB70B6-C543-4EA8-93D2-DBE6EA02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5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3AAC22-B8D2-4EDE-8EDF-E05E49F5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03B5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3B5C"/>
                </a:solidFill>
                <a:latin typeface="Arial"/>
                <a:ea typeface="Arial"/>
                <a:cs typeface="Arial"/>
              </a:rPr>
              <a:t>Working web experience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BFF490-4BEB-40EB-B623-ABAC38FE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52675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8324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83247"/>
                </a:solidFill>
                <a:latin typeface="Arial"/>
                <a:ea typeface="Arial"/>
                <a:cs typeface="Arial"/>
              </a:rPr>
              <a:t>Flask UI with chat, history, status, and question shortcuts.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780867-8DAB-4EF6-B2CC-B5DDE3772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5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AEDDD6-41B8-4CD9-938D-A4FFA89F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03B5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3B5C"/>
                </a:solidFill>
                <a:latin typeface="Arial"/>
                <a:ea typeface="Arial"/>
                <a:cs typeface="Arial"/>
              </a:rPr>
              <a:t>RAG foundation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5A673F-50E9-470B-B426-CF101E25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90875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8324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83247"/>
                </a:solidFill>
                <a:latin typeface="Arial"/>
                <a:ea typeface="Arial"/>
                <a:cs typeface="Arial"/>
              </a:rPr>
              <a:t>Knowledge base retrieval with Chroma-backed document indexing.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153FB3-9DBF-488E-A557-218A87FF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5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750C03-6C70-43C8-A013-63F18D80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03B5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3B5C"/>
                </a:solidFill>
                <a:latin typeface="Arial"/>
                <a:ea typeface="Arial"/>
                <a:cs typeface="Arial"/>
              </a:rPr>
              <a:t>Modern runtime guardrails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2DE603-2A6F-4B93-996E-0AF3005D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29075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8324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83247"/>
                </a:solidFill>
                <a:latin typeface="Arial"/>
                <a:ea typeface="Arial"/>
                <a:cs typeface="Arial"/>
              </a:rPr>
              <a:t>Session isolation, bounded inputs, admin-only indexing, and health checks.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432335-371B-4495-A879-A314894E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5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71EED7-E431-4AFB-A9E0-895D3284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03B5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3B5C"/>
                </a:solidFill>
                <a:latin typeface="Arial"/>
                <a:ea typeface="Arial"/>
                <a:cs typeface="Arial"/>
              </a:rPr>
              <a:t>Voice + provider seams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C6E969-6DC8-45CE-A693-0B380DEB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67275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8324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83247"/>
                </a:solidFill>
                <a:latin typeface="Arial"/>
                <a:ea typeface="Arial"/>
                <a:cs typeface="Arial"/>
              </a:rPr>
              <a:t>Browser speech mode and configuration-driven LLM adapters, including OpenAI-compatible endpoints.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7F3514-E703-4BE0-8E18-BC151499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14550"/>
            <a:ext cx="5219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8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45916B-0D08-4733-A69A-1D42C170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86000"/>
            <a:ext cx="895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003B5C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003B5C"/>
                </a:solidFill>
                <a:latin typeface="Arial"/>
                <a:ea typeface="Arial"/>
                <a:cs typeface="Arial"/>
              </a:rPr>
              <a:t>48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8ED863-9E2D-4008-8242-A508B9AB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812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324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83247"/>
                </a:solidFill>
                <a:latin typeface="Arial"/>
                <a:ea typeface="Arial"/>
                <a:cs typeface="Arial"/>
              </a:rPr>
              <a:t>automated tests pass in local verification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9053CF-6D49-493A-A1A8-486E0E4A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146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E728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E7282"/>
                </a:solidFill>
                <a:latin typeface="Arial"/>
                <a:ea typeface="Arial"/>
                <a:cs typeface="Arial"/>
              </a:rPr>
              <a:t>PoC evidence: `/api/chat`, `/api/status`, `/api/history`, and an Azure deployment path are documented and smoke-tested.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B7F456-517F-4910-ACFE-C9CF6892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48050"/>
            <a:ext cx="521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C2F6F1-BF2B-4E80-BB9A-9A600789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766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E5A82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E5A823"/>
                </a:solidFill>
                <a:latin typeface="Arial"/>
                <a:ea typeface="Arial"/>
                <a:cs typeface="Arial"/>
              </a:rPr>
              <a:t>LESSONS LEARNED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438040-C98F-4551-AD71-D879301E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0050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8324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83247"/>
                </a:solidFill>
                <a:latin typeface="Arial"/>
                <a:ea typeface="Arial"/>
                <a:cs typeface="Arial"/>
              </a:rPr>
              <a:t>Shared state needs isolation.</a:t>
            </a:r>
          </a:p>
          <a:p xmlns:a="http://schemas.openxmlformats.org/drawingml/2006/main">
            <a:pPr>
              <a:defRPr sz="1350" b="0" i="0">
                <a:solidFill>
                  <a:srgbClr val="18324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83247"/>
                </a:solidFill>
                <a:latin typeface="Arial"/>
                <a:ea typeface="Arial"/>
                <a:cs typeface="Arial"/>
              </a:rPr>
              <a:t>The corpus must match the iSchool use case.</a:t>
            </a:r>
          </a:p>
          <a:p xmlns:a="http://schemas.openxmlformats.org/drawingml/2006/main">
            <a:pPr>
              <a:defRPr sz="1350" b="0" i="0">
                <a:solidFill>
                  <a:srgbClr val="18324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83247"/>
                </a:solidFill>
                <a:latin typeface="Arial"/>
                <a:ea typeface="Arial"/>
                <a:cs typeface="Arial"/>
              </a:rPr>
              <a:t>Provider compatibility reduces integration cost.</a:t>
            </a:r>
          </a:p>
          <a:p xmlns:a="http://schemas.openxmlformats.org/drawingml/2006/main">
            <a:pPr>
              <a:defRPr sz="1350" b="0" i="0">
                <a:solidFill>
                  <a:srgbClr val="18324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83247"/>
                </a:solidFill>
                <a:latin typeface="Arial"/>
                <a:ea typeface="Arial"/>
                <a:cs typeface="Arial"/>
              </a:rPr>
              <a:t>Voice needs transcript review and browser fallback.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766711-BBC2-4148-BB77-42356D0E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5E7282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E7282"/>
                </a:solidFill>
                <a:latin typeface="Arial"/>
                <a:ea typeface="Arial"/>
                <a:cs typeface="Arial"/>
              </a:rPr>
              <a:t>195A recap  |  Local verification, not a production SLA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68B6B2-AA4B-4DCA-8BC1-9E802DA5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15100"/>
            <a:ext cx="1314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03B5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B5C"/>
                </a:solidFill>
                <a:latin typeface="Arial"/>
                <a:ea typeface="Arial"/>
                <a:cs typeface="Arial"/>
              </a:rPr>
              <a:t>SJSU iSchool</a:t>
            </a:r>
          </a:p>
        </p:txBody>
      </p:sp>
    </p:spTree>
    <p:extLst>
      <p:ext uri="{BB962C8B-B14F-4D97-AF65-F5344CB8AC3E}">
        <p14:creationId xmlns:p14="http://schemas.microsoft.com/office/powerpoint/2010/main" val="15944058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3592BE-E8F7-4C00-B954-0D5B2ECE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E5A82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E5A823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01351B-0E15-48E1-B2BD-AF6CA80F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003B5C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3B5C"/>
                </a:solidFill>
                <a:latin typeface="Arial"/>
                <a:ea typeface="Arial"/>
                <a:cs typeface="Arial"/>
              </a:rPr>
              <a:t>A replaceable provider layer keeps the product grounded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CB4027-AB29-4F62-BD29-CD7C3E90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8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0BDE7E-9159-41E6-AF03-6F5BE67EA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4290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5E728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E7282"/>
                </a:solidFill>
                <a:latin typeface="Arial"/>
                <a:ea typeface="Arial"/>
                <a:cs typeface="Arial"/>
              </a:rPr>
              <a:t>TEAM 22  •  4/6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2ABA0A-D7D9-498C-95BE-F3F7D618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324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83247"/>
                </a:solidFill>
                <a:latin typeface="Arial"/>
                <a:ea typeface="Arial"/>
                <a:cs typeface="Arial"/>
              </a:rPr>
              <a:t>Every answer starts with a bounded request, passes through retrieval, and returns with the configured model. The crawler and index builder stay offline.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443E1B-A80E-46D1-BCAC-1393736C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809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F2F8"/>
          </a:solidFill>
          <a:ln xmlns:a="http://schemas.openxmlformats.org/drawingml/2006/main" w="19050">
            <a:solidFill>
              <a:srgbClr val="0065A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70524F-E63B-4528-A944-06F159F8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003B5C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03B5C"/>
                </a:solidFill>
                <a:latin typeface="Arial"/>
                <a:ea typeface="Arial"/>
                <a:cs typeface="Arial"/>
              </a:rPr>
              <a:t>Browser UI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25DE5C-4052-40B1-B623-3E52DDF8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8324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83247"/>
                </a:solidFill>
                <a:latin typeface="Arial"/>
                <a:ea typeface="Arial"/>
                <a:cs typeface="Arial"/>
              </a:rPr>
              <a:t>text + voice</a:t>
            </a:r>
          </a:p>
          <a:p xmlns:a="http://schemas.openxmlformats.org/drawingml/2006/main">
            <a:pPr>
              <a:defRPr sz="1200" b="0" i="0">
                <a:solidFill>
                  <a:srgbClr val="18324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83247"/>
                </a:solidFill>
                <a:latin typeface="Arial"/>
                <a:ea typeface="Arial"/>
                <a:cs typeface="Arial"/>
              </a:rPr>
              <a:t>transcript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3E464D-E856-4EB5-B66A-280ECC358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476500"/>
            <a:ext cx="1809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03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AFCA00-236C-45F4-9AE9-8BB409E0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860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Flask 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D982E0-A53C-4097-A372-D9646088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04800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D9EEF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D9EEF7"/>
                </a:solidFill>
                <a:latin typeface="Arial"/>
                <a:ea typeface="Arial"/>
                <a:cs typeface="Arial"/>
              </a:rPr>
              <a:t>sessions · limits</a:t>
            </a:r>
          </a:p>
          <a:p xmlns:a="http://schemas.openxmlformats.org/drawingml/2006/main">
            <a:pPr>
              <a:defRPr sz="1200" b="0" i="0">
                <a:solidFill>
                  <a:srgbClr val="D9EEF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D9EEF7"/>
                </a:solidFill>
                <a:latin typeface="Arial"/>
                <a:ea typeface="Arial"/>
                <a:cs typeface="Arial"/>
              </a:rPr>
              <a:t>admin controls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710F7E-E33E-4F67-9E6B-0757D46E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476500"/>
            <a:ext cx="2000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19050">
            <a:solidFill>
              <a:srgbClr val="E5A82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3707D3-ADE9-4635-8A98-987C552F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6860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003B5C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03B5C"/>
                </a:solidFill>
                <a:latin typeface="Arial"/>
                <a:ea typeface="Arial"/>
                <a:cs typeface="Arial"/>
              </a:rPr>
              <a:t>RAG core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04F702-00E6-4B87-918C-B5505180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480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8324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83247"/>
                </a:solidFill>
                <a:latin typeface="Arial"/>
                <a:ea typeface="Arial"/>
                <a:cs typeface="Arial"/>
              </a:rPr>
              <a:t>retrieval +</a:t>
            </a:r>
          </a:p>
          <a:p xmlns:a="http://schemas.openxmlformats.org/drawingml/2006/main">
            <a:pPr>
              <a:defRPr sz="1200" b="0" i="0">
                <a:solidFill>
                  <a:srgbClr val="18324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83247"/>
                </a:solidFill>
                <a:latin typeface="Arial"/>
                <a:ea typeface="Arial"/>
                <a:cs typeface="Arial"/>
              </a:rPr>
              <a:t>response policy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703CE7-92E0-41FB-B518-89038B1F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209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2F8"/>
          </a:solidFill>
          <a:ln xmlns:a="http://schemas.openxmlformats.org/drawingml/2006/main" w="19050">
            <a:solidFill>
              <a:srgbClr val="0065A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185790-E74D-44F8-ADF9-444C9FAC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66950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003B5C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3B5C"/>
                </a:solidFill>
                <a:latin typeface="Arial"/>
                <a:ea typeface="Arial"/>
                <a:cs typeface="Arial"/>
              </a:rPr>
              <a:t>Chroma index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45DEB6-B1C2-4C3C-84C1-ABE4128C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47950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183247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83247"/>
                </a:solidFill>
                <a:latin typeface="Arial"/>
                <a:ea typeface="Arial"/>
                <a:cs typeface="Arial"/>
              </a:rPr>
              <a:t>chunked advising docs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90B476-9F34-4DB5-B7AC-145CECF8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33750"/>
            <a:ext cx="2095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003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AA9AA7-F5D8-44F9-B6BA-E1F30657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8615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LLM adapters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3B8C04-C0D9-410B-B28F-4CABDDFD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0525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D9EEF7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D9EEF7"/>
                </a:solidFill>
                <a:latin typeface="Arial"/>
                <a:ea typeface="Arial"/>
                <a:cs typeface="Arial"/>
              </a:rPr>
              <a:t>OpenAI · Azure</a:t>
            </a:r>
          </a:p>
          <a:p xmlns:a="http://schemas.openxmlformats.org/drawingml/2006/main">
            <a:pPr>
              <a:defRPr sz="1050" b="0" i="0">
                <a:solidFill>
                  <a:srgbClr val="D9EEF7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D9EEF7"/>
                </a:solidFill>
                <a:latin typeface="Arial"/>
                <a:ea typeface="Arial"/>
                <a:cs typeface="Arial"/>
              </a:rPr>
              <a:t>Anthropic · HF</a:t>
            </a:r>
          </a:p>
          <a:p xmlns:a="http://schemas.openxmlformats.org/drawingml/2006/main">
            <a:pPr>
              <a:defRPr sz="1050" b="0" i="0">
                <a:solidFill>
                  <a:srgbClr val="D9EEF7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D9EEF7"/>
                </a:solidFill>
                <a:latin typeface="Arial"/>
                <a:ea typeface="Arial"/>
                <a:cs typeface="Arial"/>
              </a:rPr>
              <a:t>DeepSeek · Qwen · Zhipu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853808-5C45-48E6-AE35-7175C353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762500"/>
            <a:ext cx="44386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8F2F8"/>
          </a:solidFill>
          <a:ln xmlns:a="http://schemas.openxmlformats.org/drawingml/2006/main" w="19050">
            <a:solidFill>
              <a:srgbClr val="0065A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BB9A56-CEB6-409D-9354-5E6D2B6C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149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03B5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3B5C"/>
                </a:solidFill>
                <a:latin typeface="Arial"/>
                <a:ea typeface="Arial"/>
                <a:cs typeface="Arial"/>
              </a:rPr>
              <a:t>Offline ingestion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11C299-8FA5-41AD-97CD-9B0C7552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31495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8324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83247"/>
                </a:solidFill>
                <a:latin typeface="Arial"/>
                <a:ea typeface="Arial"/>
                <a:cs typeface="Arial"/>
              </a:rPr>
              <a:t>bounded crawler + build_index CLI  →  Chroma</a:t>
            </a:r>
          </a:p>
        </p:txBody>
      </p:sp>
      <p:cxnSp>
        <p:nvCxnSpPr>
          <p:cNvPr id="54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495550" y="304800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65A8"/>
            </a:solidFill>
            <a:prstDash val="solid"/>
            <a:tailEnd type="arrow" w="med" len="med"/>
          </a:ln>
        </p:spPr>
      </p:cxnSp>
      <p:cxnSp>
        <p:nvCxnSpPr>
          <p:cNvPr id="55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933950" y="304800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65A8"/>
            </a:solidFill>
            <a:prstDash val="solid"/>
            <a:tailEnd type="arrow" w="med" len="med"/>
          </a:ln>
        </p:spPr>
      </p:cxnSp>
      <p:cxnSp>
        <p:nvCxnSpPr>
          <p:cNvPr id="56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7562850" y="2571750"/>
            <a:ext cx="438150" cy="476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E5A823"/>
            </a:solidFill>
            <a:prstDash val="solid"/>
            <a:tailEnd type="arrow" w="med" len="med"/>
          </a:ln>
        </p:spPr>
      </p:cxnSp>
      <p:cxnSp>
        <p:nvCxnSpPr>
          <p:cNvPr id="57" name=""/>
          <p:cNvCxnSpPr>
            <a:stCxn xmlns:a="http://schemas.openxmlformats.org/drawingml/2006/main" id="12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562850" y="3048000"/>
            <a:ext cx="438150" cy="8953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E5A823"/>
            </a:solidFill>
            <a:prstDash val="solid"/>
            <a:tailEnd type="arrow" w="med" len="med"/>
          </a:ln>
        </p:spPr>
      </p:cxnSp>
      <p:cxnSp>
        <p:nvCxnSpPr>
          <p:cNvPr id="58" name=""/>
          <p:cNvCxnSpPr>
            <a:stCxn xmlns:a="http://schemas.openxmlformats.org/drawingml/2006/main" id="21" idx="3"/>
            <a:endCxn xmlns:a="http://schemas.openxmlformats.org/drawingml/2006/main" id="15" idx="2"/>
          </p:cNvCxnSpPr>
          <p:nvPr/>
        </p:nvCxnSpPr>
        <p:spPr>
          <a:xfrm xmlns:a="http://schemas.openxmlformats.org/drawingml/2006/main" flipV="1">
            <a:off x="7562850" y="3048000"/>
            <a:ext cx="1485900" cy="2171700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5E7282"/>
            </a:solidFill>
            <a:prstDash val="dash"/>
            <a:tailEnd type="arrow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89E564-BC2B-4E04-B7BA-51084984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5E7282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E7282"/>
                </a:solidFill>
                <a:latin typeface="Arial"/>
                <a:ea typeface="Arial"/>
                <a:cs typeface="Arial"/>
              </a:rPr>
              <a:t>Editable architecture  |  Runtime path stays provider-agnostic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E43419-AD35-4488-ADA1-9977F290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15100"/>
            <a:ext cx="1314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03B5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B5C"/>
                </a:solidFill>
                <a:latin typeface="Arial"/>
                <a:ea typeface="Arial"/>
                <a:cs typeface="Arial"/>
              </a:rPr>
              <a:t>SJSU iSchool</a:t>
            </a:r>
          </a:p>
        </p:txBody>
      </p:sp>
    </p:spTree>
    <p:extLst>
      <p:ext uri="{BB962C8B-B14F-4D97-AF65-F5344CB8AC3E}">
        <p14:creationId xmlns:p14="http://schemas.microsoft.com/office/powerpoint/2010/main" val="1008051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765CAC-E16D-491C-956B-D98ACDAE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E5A82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E5A823"/>
                </a:solidFill>
                <a:latin typeface="Arial"/>
                <a:ea typeface="Arial"/>
                <a:cs typeface="Arial"/>
              </a:rPr>
              <a:t>195B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508259-48F2-4DDA-8AA8-B0AFD6AC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003B5C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3B5C"/>
                </a:solidFill>
                <a:latin typeface="Arial"/>
                <a:ea typeface="Arial"/>
                <a:cs typeface="Arial"/>
              </a:rPr>
              <a:t>A phased plan turns the PoC into a semester deliverable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5CE615-B03A-4934-B67F-E6F5508E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8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885026-9D27-4E7B-8F0D-38EEA043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4290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5E728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E7282"/>
                </a:solidFill>
                <a:latin typeface="Arial"/>
                <a:ea typeface="Arial"/>
                <a:cs typeface="Arial"/>
              </a:rPr>
              <a:t>TEAM 22  •  5/6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34DA4C-8E6C-43F0-A30B-7063C0346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324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83247"/>
                </a:solidFill>
                <a:latin typeface="Arial"/>
                <a:ea typeface="Arial"/>
                <a:cs typeface="Arial"/>
              </a:rPr>
              <a:t>The plan sequences content quality first, then experience validation, then deployment hardening and the final demo.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9941D7-AE6E-41DF-B453-EF418329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95600"/>
            <a:ext cx="923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B6BEBC-B6D7-4DAE-A5EF-F7A197D1D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241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AB3DC4-E6EA-43D8-ACA7-0E25E5BF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622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A6CC89-E1FD-4DEF-A597-0935E89C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14700"/>
            <a:ext cx="24765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8F2F8"/>
          </a:solidFill>
          <a:ln xmlns:a="http://schemas.openxmlformats.org/drawingml/2006/main" w="19050">
            <a:solidFill>
              <a:srgbClr val="003B5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287127-0FCD-4485-8D19-FE01383F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5052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03B5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3B5C"/>
                </a:solidFill>
                <a:latin typeface="Arial"/>
                <a:ea typeface="Arial"/>
                <a:cs typeface="Arial"/>
              </a:rPr>
              <a:t>01  BASELINE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3BFFC4-EBD0-45B4-8934-7F51B36C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7190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03B5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3B5C"/>
                </a:solidFill>
                <a:latin typeface="Arial"/>
                <a:ea typeface="Arial"/>
                <a:cs typeface="Arial"/>
              </a:rPr>
              <a:t>Weeks 5–6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2ABF6B-711F-4729-AB9D-C09D94F4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33850"/>
            <a:ext cx="2133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8324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83247"/>
                </a:solidFill>
                <a:latin typeface="Arial"/>
                <a:ea typeface="Arial"/>
                <a:cs typeface="Arial"/>
              </a:rPr>
              <a:t>Freeze scope</a:t>
            </a:r>
          </a:p>
          <a:p xmlns:a="http://schemas.openxmlformats.org/drawingml/2006/main">
            <a:pPr>
              <a:defRPr sz="1275" b="0" i="0">
                <a:solidFill>
                  <a:srgbClr val="18324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83247"/>
                </a:solidFill>
                <a:latin typeface="Arial"/>
                <a:ea typeface="Arial"/>
                <a:cs typeface="Arial"/>
              </a:rPr>
              <a:t>security + sessions</a:t>
            </a:r>
          </a:p>
          <a:p xmlns:a="http://schemas.openxmlformats.org/drawingml/2006/main">
            <a:pPr>
              <a:defRPr sz="1275" b="0" i="0">
                <a:solidFill>
                  <a:srgbClr val="18324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83247"/>
                </a:solidFill>
                <a:latin typeface="Arial"/>
                <a:ea typeface="Arial"/>
                <a:cs typeface="Arial"/>
              </a:rPr>
              <a:t>health checks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0F2130-2FB3-4DF6-B82D-5D6B9591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241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A8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379ABB-6D21-40E7-951F-9C4C08A9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622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03B5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B5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AB9F08-8FFD-4FD4-86EC-3D58C780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14700"/>
            <a:ext cx="28575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19050">
            <a:solidFill>
              <a:srgbClr val="E5A82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94718A-5706-42E2-9075-AD5FCD67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50520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03B5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3B5C"/>
                </a:solidFill>
                <a:latin typeface="Arial"/>
                <a:ea typeface="Arial"/>
                <a:cs typeface="Arial"/>
              </a:rPr>
              <a:t>02  VALIDATE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11B085-5113-4CF3-BF96-EB9B912A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7190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03B5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3B5C"/>
                </a:solidFill>
                <a:latin typeface="Arial"/>
                <a:ea typeface="Arial"/>
                <a:cs typeface="Arial"/>
              </a:rPr>
              <a:t>Weeks 7–9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915FEF-4628-4559-A527-8FB05401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33850"/>
            <a:ext cx="2514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8324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83247"/>
                </a:solidFill>
                <a:latin typeface="Arial"/>
                <a:ea typeface="Arial"/>
                <a:cs typeface="Arial"/>
              </a:rPr>
              <a:t>official corpus + index</a:t>
            </a:r>
          </a:p>
          <a:p xmlns:a="http://schemas.openxmlformats.org/drawingml/2006/main">
            <a:pPr>
              <a:defRPr sz="1275" b="0" i="0">
                <a:solidFill>
                  <a:srgbClr val="18324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83247"/>
                </a:solidFill>
                <a:latin typeface="Arial"/>
                <a:ea typeface="Arial"/>
                <a:cs typeface="Arial"/>
              </a:rPr>
              <a:t>voice + Mandarin</a:t>
            </a:r>
          </a:p>
          <a:p xmlns:a="http://schemas.openxmlformats.org/drawingml/2006/main">
            <a:pPr>
              <a:defRPr sz="1275" b="0" i="0">
                <a:solidFill>
                  <a:srgbClr val="18324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83247"/>
                </a:solidFill>
                <a:latin typeface="Arial"/>
                <a:ea typeface="Arial"/>
                <a:cs typeface="Arial"/>
              </a:rPr>
              <a:t>Chinese model smoke tests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8FC8F7-7919-4EBA-8D4A-2382896A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241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5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23FDE8-5319-4642-B3F0-0AE041DD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622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BB374A-BC44-45BB-A3CF-19C2AF62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14700"/>
            <a:ext cx="27813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8F2F8"/>
          </a:solidFill>
          <a:ln xmlns:a="http://schemas.openxmlformats.org/drawingml/2006/main" w="19050">
            <a:solidFill>
              <a:srgbClr val="0065A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FEA59A-D33F-4B01-81B5-E6187BF7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05200"/>
            <a:ext cx="243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065A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65A8"/>
                </a:solidFill>
                <a:latin typeface="Arial"/>
                <a:ea typeface="Arial"/>
                <a:cs typeface="Arial"/>
              </a:rPr>
              <a:t>03  DELIVER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B1B615-8871-4274-A814-A432A755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77190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03B5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3B5C"/>
                </a:solidFill>
                <a:latin typeface="Arial"/>
                <a:ea typeface="Arial"/>
                <a:cs typeface="Arial"/>
              </a:rPr>
              <a:t>Weeks 10–12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919687-B797-4549-BF0C-EA7F6AAF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133850"/>
            <a:ext cx="2438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8324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83247"/>
                </a:solidFill>
                <a:latin typeface="Arial"/>
                <a:ea typeface="Arial"/>
                <a:cs typeface="Arial"/>
              </a:rPr>
              <a:t>evaluation set</a:t>
            </a:r>
          </a:p>
          <a:p xmlns:a="http://schemas.openxmlformats.org/drawingml/2006/main">
            <a:pPr>
              <a:defRPr sz="1275" b="0" i="0">
                <a:solidFill>
                  <a:srgbClr val="18324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83247"/>
                </a:solidFill>
                <a:latin typeface="Arial"/>
                <a:ea typeface="Arial"/>
                <a:cs typeface="Arial"/>
              </a:rPr>
              <a:t>deployment hardening</a:t>
            </a:r>
          </a:p>
          <a:p xmlns:a="http://schemas.openxmlformats.org/drawingml/2006/main">
            <a:pPr>
              <a:defRPr sz="1275" b="0" i="0">
                <a:solidFill>
                  <a:srgbClr val="18324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83247"/>
                </a:solidFill>
                <a:latin typeface="Arial"/>
                <a:ea typeface="Arial"/>
                <a:cs typeface="Arial"/>
              </a:rPr>
              <a:t>demo + video handoff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71653C-745A-4202-9D29-F42061D4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E5A82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E5A823"/>
                </a:solidFill>
                <a:latin typeface="Arial"/>
                <a:ea typeface="Arial"/>
                <a:cs typeface="Arial"/>
              </a:rPr>
              <a:t>End-of-semester definition of done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782778-21B5-464D-9FB8-EA14B329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429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03B5C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03B5C"/>
                </a:solidFill>
                <a:latin typeface="Arial"/>
                <a:ea typeface="Arial"/>
                <a:cs typeface="Arial"/>
              </a:rPr>
              <a:t>A reproducible advising index, working browser voice mode, a tested Chinese-provider option, a bounded admin workflow, and evidence that answers stay within the iSchool scope.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31CC27-3E2F-40B5-9494-B6198763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5E7282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E7282"/>
                </a:solidFill>
                <a:latin typeface="Arial"/>
                <a:ea typeface="Arial"/>
                <a:cs typeface="Arial"/>
              </a:rPr>
              <a:t>195B implementation plan  |  Milestones are owned by the team, not the model provider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71DA06-C573-41FE-BEA0-B9DEED14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15100"/>
            <a:ext cx="1314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03B5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B5C"/>
                </a:solidFill>
                <a:latin typeface="Arial"/>
                <a:ea typeface="Arial"/>
                <a:cs typeface="Arial"/>
              </a:rPr>
              <a:t>SJSU iSchool</a:t>
            </a:r>
          </a:p>
        </p:txBody>
      </p:sp>
    </p:spTree>
    <p:extLst>
      <p:ext uri="{BB962C8B-B14F-4D97-AF65-F5344CB8AC3E}">
        <p14:creationId xmlns:p14="http://schemas.microsoft.com/office/powerpoint/2010/main" val="4515081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27EB26-A31F-4204-9309-C96A7921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E5A82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E5A823"/>
                </a:solidFill>
                <a:latin typeface="Arial"/>
                <a:ea typeface="Arial"/>
                <a:cs typeface="Arial"/>
              </a:rPr>
              <a:t>COMMITMENT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858A70-E87E-4421-8E1B-76048960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003B5C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3B5C"/>
                </a:solidFill>
                <a:latin typeface="Arial"/>
                <a:ea typeface="Arial"/>
                <a:cs typeface="Arial"/>
              </a:rPr>
              <a:t>We know what could go wrong and how we will respond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BFFD8B-A71A-44E9-9BB1-28FB6AE4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8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C10C1E-4C2F-453A-8A69-CEB0FC3C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4290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5E728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E7282"/>
                </a:solidFill>
                <a:latin typeface="Arial"/>
                <a:ea typeface="Arial"/>
                <a:cs typeface="Arial"/>
              </a:rPr>
              <a:t>TEAM 22  •  6/6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11EC9C-8AA4-4D1A-9AD1-FC866D32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03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96E8D2-DD7A-43BA-A5ED-D765409E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RISK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F4639B-090F-49DD-93CA-8F0C1D5C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562100"/>
            <a:ext cx="1333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6FE7B2-0C2E-495D-97FE-0F4954B9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5716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03B5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B5C"/>
                </a:solidFill>
                <a:latin typeface="Arial"/>
                <a:ea typeface="Arial"/>
                <a:cs typeface="Arial"/>
              </a:rPr>
              <a:t>MITIGATION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1E66D0-A886-45F5-B7F2-89A21FF0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8EB440-D32E-42AE-AF36-C2F4F244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B84A4A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B84A4A"/>
                </a:solidFill>
                <a:latin typeface="Arial"/>
                <a:ea typeface="Arial"/>
                <a:cs typeface="Arial"/>
              </a:rPr>
              <a:t>Source drift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621DBD-B05A-4284-A8E1-CE3C32E3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764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18324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83247"/>
                </a:solidFill>
                <a:latin typeface="Arial"/>
                <a:ea typeface="Arial"/>
                <a:cs typeface="Arial"/>
              </a:rPr>
              <a:t>Version the corpus; rebuild the index from a reviewed source set.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A9A2C9-54ED-45D2-85F3-5AB146BE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4911CB-0C40-4427-945D-6299F1D6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B84A4A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B84A4A"/>
                </a:solidFill>
                <a:latin typeface="Arial"/>
                <a:ea typeface="Arial"/>
                <a:cs typeface="Arial"/>
              </a:rPr>
              <a:t>Provider outage or quota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3FA756-DB72-41B9-A766-6F0D2533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003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18324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83247"/>
                </a:solidFill>
                <a:latin typeface="Arial"/>
                <a:ea typeface="Arial"/>
                <a:cs typeface="Arial"/>
              </a:rPr>
              <a:t>Keep the adapter contract portable; test a configured fallback.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5FF5DA-F39E-4F13-8F84-61737A90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4C93D5-6490-430E-8A14-2F646A6B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B84A4A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B84A4A"/>
                </a:solidFill>
                <a:latin typeface="Arial"/>
                <a:ea typeface="Arial"/>
                <a:cs typeface="Arial"/>
              </a:rPr>
              <a:t>Browser voice limits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49A37B-CDD6-4D14-BEF7-26EDDD49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5242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18324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83247"/>
                </a:solidFill>
                <a:latin typeface="Arial"/>
                <a:ea typeface="Arial"/>
                <a:cs typeface="Arial"/>
              </a:rPr>
              <a:t>Keep transcript review on and preserve text chat as the baseline.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34381A-1DCF-4132-9214-7D419F95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BF8CF9-A074-4D09-A318-2C2F504D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B84A4A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B84A4A"/>
                </a:solidFill>
                <a:latin typeface="Arial"/>
                <a:ea typeface="Arial"/>
                <a:cs typeface="Arial"/>
              </a:rPr>
              <a:t>Multi-worker history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A80CC4-1391-4E89-A8F3-C685F778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481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18324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83247"/>
                </a:solidFill>
                <a:latin typeface="Arial"/>
                <a:ea typeface="Arial"/>
                <a:cs typeface="Arial"/>
              </a:rPr>
              <a:t>Use a shared session store before any scaled deployment.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526DAE-5E6B-4883-8321-5936CD8E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521970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003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F4285E-1441-42AF-92F3-E57D88D0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241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E5A82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E5A823"/>
                </a:solidFill>
                <a:latin typeface="Arial"/>
                <a:ea typeface="Arial"/>
                <a:cs typeface="Arial"/>
              </a:rPr>
              <a:t>OUR SEMESTER COMMITMENTS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4F50BC-D0ED-46FE-B359-068AB736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24150"/>
            <a:ext cx="4667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  Curated advising corpus + reproducible index</a:t>
            </a:r>
          </a:p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  Voice mode with English and Mandarin options</a:t>
            </a:r>
          </a:p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  Chinese-model path through OpenAI-compatible adapters</a:t>
            </a:r>
          </a:p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04  Evaluation evidence, deployment checklist, and demo video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789A14-9945-4BF7-B363-D3984C91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38700"/>
            <a:ext cx="52197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19050">
            <a:solidFill>
              <a:srgbClr val="E5A82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C8B86E-CF8B-48F0-AC54-624469F9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000625"/>
            <a:ext cx="781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003B5C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3B5C"/>
                </a:solidFill>
                <a:latin typeface="Arial"/>
                <a:ea typeface="Arial"/>
                <a:cs typeface="Arial"/>
              </a:rPr>
              <a:t>Q&amp;A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4A96BF-D6C0-4745-9D06-2CD1C210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010150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8324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83247"/>
                </a:solidFill>
                <a:latin typeface="Arial"/>
                <a:ea typeface="Arial"/>
                <a:cs typeface="Arial"/>
              </a:rPr>
              <a:t>Ask us about scope, source quality, voice privacy, or model portability.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880B35-DA81-4B90-A4F5-8D7A13D5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5E7282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E7282"/>
                </a:solidFill>
                <a:latin typeface="Arial"/>
                <a:ea typeface="Arial"/>
                <a:cs typeface="Arial"/>
              </a:rPr>
              <a:t>Team 22  |  Christopher · Marios · Joshua  |  Thank you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3709AF-BF67-4C87-BB56-56F90D39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15100"/>
            <a:ext cx="1314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03B5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B5C"/>
                </a:solidFill>
                <a:latin typeface="Arial"/>
                <a:ea typeface="Arial"/>
                <a:cs typeface="Arial"/>
              </a:rPr>
              <a:t>SJSU iSchool</a:t>
            </a:r>
          </a:p>
        </p:txBody>
      </p:sp>
    </p:spTree>
    <p:extLst>
      <p:ext uri="{BB962C8B-B14F-4D97-AF65-F5344CB8AC3E}">
        <p14:creationId xmlns:p14="http://schemas.microsoft.com/office/powerpoint/2010/main" val="4601113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2026-09-17T17:33:18.3460000Z</dcterms:created>
  <dcterms:modified xsi:type="dcterms:W3CDTF">2026-09-17T17:33:18.3460000Z</dcterms:modified>
</coreProperties>
</file>